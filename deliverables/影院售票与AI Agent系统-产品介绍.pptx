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5512" y="0"/>
            <a:ext cx="4663440" cy="6858000"/>
          </a:xfrm>
          <a:prstGeom prst="rect">
            <a:avLst/>
          </a:prstGeom>
          <a:solidFill>
            <a:srgbClr val="0E2430"/>
          </a:solidFill>
          <a:ln w="12700">
            <a:solidFill>
              <a:srgbClr val="0E243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25512" y="0"/>
            <a:ext cx="0" cy="6858000"/>
          </a:xfrm>
          <a:prstGeom prst="line">
            <a:avLst/>
          </a:prstGeom>
          <a:noFill/>
          <a:ln w="12700">
            <a:solidFill>
              <a:srgbClr val="2146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155448" cy="155448"/>
          </a:xfrm>
          <a:prstGeom prst="ellipse">
            <a:avLst/>
          </a:prstGeom>
          <a:solidFill>
            <a:srgbClr val="1C3946"/>
          </a:solidFill>
          <a:ln w="12700">
            <a:solidFill>
              <a:srgbClr val="1C394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7888" y="274320"/>
            <a:ext cx="155448" cy="155448"/>
          </a:xfrm>
          <a:prstGeom prst="ellipse">
            <a:avLst/>
          </a:prstGeom>
          <a:solidFill>
            <a:srgbClr val="1C3946"/>
          </a:solidFill>
          <a:ln w="12700">
            <a:solidFill>
              <a:srgbClr val="1C394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23376" y="274320"/>
            <a:ext cx="155448" cy="155448"/>
          </a:xfrm>
          <a:prstGeom prst="ellipse">
            <a:avLst/>
          </a:prstGeom>
          <a:solidFill>
            <a:srgbClr val="1C3946"/>
          </a:solidFill>
          <a:ln w="12700">
            <a:solidFill>
              <a:srgbClr val="1C394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98864" y="274320"/>
            <a:ext cx="155448" cy="155448"/>
          </a:xfrm>
          <a:prstGeom prst="ellipse">
            <a:avLst/>
          </a:prstGeom>
          <a:solidFill>
            <a:srgbClr val="1C3946"/>
          </a:solidFill>
          <a:ln w="12700">
            <a:solidFill>
              <a:srgbClr val="1C394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74352" y="274320"/>
            <a:ext cx="155448" cy="155448"/>
          </a:xfrm>
          <a:prstGeom prst="ellipse">
            <a:avLst/>
          </a:prstGeom>
          <a:solidFill>
            <a:srgbClr val="1C3946"/>
          </a:solidFill>
          <a:ln w="12700">
            <a:solidFill>
              <a:srgbClr val="1C394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0" y="274320"/>
            <a:ext cx="155448" cy="155448"/>
          </a:xfrm>
          <a:prstGeom prst="ellipse">
            <a:avLst/>
          </a:prstGeom>
          <a:solidFill>
            <a:srgbClr val="1C3946"/>
          </a:solidFill>
          <a:ln w="12700">
            <a:solidFill>
              <a:srgbClr val="1C394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25328" y="274320"/>
            <a:ext cx="155448" cy="155448"/>
          </a:xfrm>
          <a:prstGeom prst="ellipse">
            <a:avLst/>
          </a:prstGeom>
          <a:solidFill>
            <a:srgbClr val="1C3946"/>
          </a:solidFill>
          <a:ln w="12700">
            <a:solidFill>
              <a:srgbClr val="1C394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00816" y="274320"/>
            <a:ext cx="155448" cy="155448"/>
          </a:xfrm>
          <a:prstGeom prst="ellipse">
            <a:avLst/>
          </a:prstGeom>
          <a:solidFill>
            <a:srgbClr val="1C3946"/>
          </a:solidFill>
          <a:ln w="12700">
            <a:solidFill>
              <a:srgbClr val="1C394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6190488"/>
            <a:ext cx="155448" cy="155448"/>
          </a:xfrm>
          <a:prstGeom prst="ellipse">
            <a:avLst/>
          </a:prstGeom>
          <a:solidFill>
            <a:srgbClr val="1C3946"/>
          </a:solidFill>
          <a:ln w="12700">
            <a:solidFill>
              <a:srgbClr val="1C394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7888" y="6190488"/>
            <a:ext cx="155448" cy="155448"/>
          </a:xfrm>
          <a:prstGeom prst="ellipse">
            <a:avLst/>
          </a:prstGeom>
          <a:solidFill>
            <a:srgbClr val="1C3946"/>
          </a:solidFill>
          <a:ln w="12700">
            <a:solidFill>
              <a:srgbClr val="1C394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23376" y="6190488"/>
            <a:ext cx="155448" cy="155448"/>
          </a:xfrm>
          <a:prstGeom prst="ellipse">
            <a:avLst/>
          </a:prstGeom>
          <a:solidFill>
            <a:srgbClr val="1C3946"/>
          </a:solidFill>
          <a:ln w="12700">
            <a:solidFill>
              <a:srgbClr val="1C394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98864" y="6190488"/>
            <a:ext cx="155448" cy="155448"/>
          </a:xfrm>
          <a:prstGeom prst="ellipse">
            <a:avLst/>
          </a:prstGeom>
          <a:solidFill>
            <a:srgbClr val="1C3946"/>
          </a:solidFill>
          <a:ln w="12700">
            <a:solidFill>
              <a:srgbClr val="1C394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74352" y="6190488"/>
            <a:ext cx="155448" cy="155448"/>
          </a:xfrm>
          <a:prstGeom prst="ellipse">
            <a:avLst/>
          </a:prstGeom>
          <a:solidFill>
            <a:srgbClr val="1C3946"/>
          </a:solidFill>
          <a:ln w="12700">
            <a:solidFill>
              <a:srgbClr val="1C394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49840" y="6190488"/>
            <a:ext cx="155448" cy="155448"/>
          </a:xfrm>
          <a:prstGeom prst="ellipse">
            <a:avLst/>
          </a:prstGeom>
          <a:solidFill>
            <a:srgbClr val="1C3946"/>
          </a:solidFill>
          <a:ln w="12700">
            <a:solidFill>
              <a:srgbClr val="1C394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25328" y="6190488"/>
            <a:ext cx="155448" cy="155448"/>
          </a:xfrm>
          <a:prstGeom prst="ellipse">
            <a:avLst/>
          </a:prstGeom>
          <a:solidFill>
            <a:srgbClr val="1C3946"/>
          </a:solidFill>
          <a:ln w="12700">
            <a:solidFill>
              <a:srgbClr val="1C394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00816" y="6190488"/>
            <a:ext cx="155448" cy="155448"/>
          </a:xfrm>
          <a:prstGeom prst="ellipse">
            <a:avLst/>
          </a:prstGeom>
          <a:solidFill>
            <a:srgbClr val="1C3946"/>
          </a:solidFill>
          <a:ln w="12700">
            <a:solidFill>
              <a:srgbClr val="1C394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76072"/>
            <a:ext cx="91440" cy="118872"/>
          </a:xfrm>
          <a:prstGeom prst="rect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512064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120" kern="0" dirty="0">
                <a:solidFill>
                  <a:srgbClr val="67C5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I N E M A   /   智 能 影 院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1444752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9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从选片到入场，</a:t>
            </a:r>
            <a:endParaRPr lang="en-US" sz="3097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09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让每一步都恰到好处。</a:t>
            </a:r>
            <a:endParaRPr lang="en-US" sz="3097" dirty="0"/>
          </a:p>
        </p:txBody>
      </p:sp>
      <p:sp>
        <p:nvSpPr>
          <p:cNvPr id="23" name="Text 21"/>
          <p:cNvSpPr/>
          <p:nvPr/>
        </p:nvSpPr>
        <p:spPr>
          <a:xfrm>
            <a:off x="658368" y="3273552"/>
            <a:ext cx="6053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影院售票与 AI Agent 系统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8368" y="4023360"/>
            <a:ext cx="5532120" cy="0"/>
          </a:xfrm>
          <a:prstGeom prst="line">
            <a:avLst/>
          </a:prstGeom>
          <a:noFill/>
          <a:ln w="29210">
            <a:solidFill>
              <a:srgbClr val="F476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297680"/>
            <a:ext cx="6263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4B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观众购票  ·  影院运营  ·  智能服务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" y="61722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A4B1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当前代码实现版  /  2026.09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247888" y="1481328"/>
            <a:ext cx="3255264" cy="3959352"/>
          </a:xfrm>
          <a:prstGeom prst="roundRect">
            <a:avLst>
              <a:gd name="adj" fmla="val 5056"/>
            </a:avLst>
          </a:prstGeom>
          <a:solidFill>
            <a:srgbClr val="FFFEFA"/>
          </a:solidFill>
          <a:ln w="12700">
            <a:solidFill>
              <a:srgbClr val="FFFEF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47888" y="1481328"/>
            <a:ext cx="3255264" cy="676656"/>
          </a:xfrm>
          <a:prstGeom prst="roundRect">
            <a:avLst>
              <a:gd name="adj" fmla="val 24324"/>
            </a:avLst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85632" y="167335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ADMIT ONE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85632" y="237744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今夜好戏 · 从这里开始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94776" y="2889504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spc="100" kern="0" dirty="0">
                <a:solidFill>
                  <a:srgbClr val="697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01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577072" y="3273552"/>
            <a:ext cx="2514600" cy="91440"/>
          </a:xfrm>
          <a:prstGeom prst="roundRect">
            <a:avLst>
              <a:gd name="adj" fmla="val 60000"/>
            </a:avLst>
          </a:prstGeom>
          <a:solidFill>
            <a:srgbClr val="29414D"/>
          </a:solidFill>
          <a:ln w="12700">
            <a:solidFill>
              <a:srgbClr val="29414D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50224" y="3584448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43416" y="3584448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36608" y="3584448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29800" y="3584448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22992" y="3584448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16184" y="3584448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50224" y="3931920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43416" y="3931920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36608" y="3931920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29800" y="3931920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222992" y="3931920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16184" y="3931920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50224" y="4279392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4279392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36608" y="4279392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29800" y="4279392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22992" y="4279392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616184" y="4279392"/>
            <a:ext cx="237744" cy="210312"/>
          </a:xfrm>
          <a:prstGeom prst="roundRect">
            <a:avLst>
              <a:gd name="adj" fmla="val 26087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47888" y="4892040"/>
            <a:ext cx="3255264" cy="0"/>
          </a:xfrm>
          <a:prstGeom prst="line">
            <a:avLst/>
          </a:prstGeom>
          <a:noFill/>
          <a:ln w="12700">
            <a:solidFill>
              <a:srgbClr val="DDE4E0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8494776" y="50566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941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C   /   SEAT 05 06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6985">
            <a:solidFill>
              <a:srgbClr val="27434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100" kern="0" dirty="0">
                <a:solidFill>
                  <a:srgbClr val="789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  /  PRODUCT INTRODUCTION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1137392" y="651052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789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100584"/>
          </a:xfrm>
          <a:prstGeom prst="rect">
            <a:avLst/>
          </a:prstGeom>
          <a:solidFill>
            <a:srgbClr val="4A9C8E"/>
          </a:solidFill>
          <a:ln w="12700">
            <a:solidFill>
              <a:srgbClr val="4A9C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5257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spc="170" kern="0" dirty="0">
                <a:solidFill>
                  <a:srgbClr val="4A9C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VISION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859536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一个系统，连接一场电影的完整旅程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84708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69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把分散的选片、购票、运营与咨询，</a:t>
            </a:r>
            <a:endParaRPr lang="en-US" sz="2369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369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收拢成一条清晰的服务链。</a:t>
            </a:r>
            <a:endParaRPr lang="en-US" sz="2369" dirty="0"/>
          </a:p>
        </p:txBody>
      </p:sp>
      <p:sp>
        <p:nvSpPr>
          <p:cNvPr id="6" name="Text 4"/>
          <p:cNvSpPr/>
          <p:nvPr/>
        </p:nvSpPr>
        <p:spPr>
          <a:xfrm>
            <a:off x="676656" y="324612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97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围绕影院真实业务建立体验闭环：观众看得见排期、买得到座位；管理者排得稳场次、管得住现场；常见问题与实时数据各走适合的服务路径。</a:t>
            </a:r>
            <a:endParaRPr lang="en-US" sz="1497" dirty="0"/>
          </a:p>
        </p:txBody>
      </p:sp>
      <p:sp>
        <p:nvSpPr>
          <p:cNvPr id="7" name="Shape 5"/>
          <p:cNvSpPr/>
          <p:nvPr/>
        </p:nvSpPr>
        <p:spPr>
          <a:xfrm>
            <a:off x="6163056" y="1764792"/>
            <a:ext cx="5376672" cy="1097280"/>
          </a:xfrm>
          <a:prstGeom prst="roundRect">
            <a:avLst>
              <a:gd name="adj" fmla="val 10000"/>
            </a:avLst>
          </a:prstGeom>
          <a:solidFill>
            <a:srgbClr val="FFFEFA"/>
          </a:solidFill>
          <a:ln w="12700">
            <a:solidFill>
              <a:srgbClr val="FFFEF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63056" y="1764792"/>
            <a:ext cx="100584" cy="1097280"/>
          </a:xfrm>
          <a:prstGeom prst="rect">
            <a:avLst/>
          </a:prstGeom>
          <a:solidFill>
            <a:srgbClr val="4A9C8E"/>
          </a:solidFill>
          <a:ln w="12700">
            <a:solidFill>
              <a:srgbClr val="4A9C8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65960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9C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05472" y="1901952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05472" y="23317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发现电影、选座购票、查看电子票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3118104"/>
            <a:ext cx="5376672" cy="1097280"/>
          </a:xfrm>
          <a:prstGeom prst="roundRect">
            <a:avLst>
              <a:gd name="adj" fmla="val 10000"/>
            </a:avLst>
          </a:prstGeom>
          <a:solidFill>
            <a:srgbClr val="FFFEFA"/>
          </a:solidFill>
          <a:ln w="12700">
            <a:solidFill>
              <a:srgbClr val="FFFEF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63056" y="3118104"/>
            <a:ext cx="100584" cy="1097280"/>
          </a:xfrm>
          <a:prstGeom prst="rect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319272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476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05472" y="3255264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05472" y="36850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管理场次、影厅座位与入场服务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63056" y="4471416"/>
            <a:ext cx="5376672" cy="1097280"/>
          </a:xfrm>
          <a:prstGeom prst="roundRect">
            <a:avLst>
              <a:gd name="adj" fmla="val 10000"/>
            </a:avLst>
          </a:prstGeom>
          <a:solidFill>
            <a:srgbClr val="FFFEFA"/>
          </a:solidFill>
          <a:ln w="12700">
            <a:solidFill>
              <a:srgbClr val="FFFEF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4471416"/>
            <a:ext cx="100584" cy="1097280"/>
          </a:xfrm>
          <a:prstGeom prst="rect">
            <a:avLst/>
          </a:prstGeom>
          <a:solidFill>
            <a:srgbClr val="29414D"/>
          </a:solidFill>
          <a:ln w="12700">
            <a:solidFill>
              <a:srgbClr val="29414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672584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941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05472" y="460857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05472" y="50383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 常见问答 + 实时 Agent 查询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6985">
            <a:solidFill>
              <a:srgbClr val="DDE4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100" kern="0" dirty="0">
                <a:solidFill>
                  <a:srgbClr val="8B99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  /  PRODUCT INTRODUCTION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37392" y="651052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8B99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100584"/>
          </a:xfrm>
          <a:prstGeom prst="rect">
            <a:avLst/>
          </a:prstGeom>
          <a:solidFill>
            <a:srgbClr val="67C5B9"/>
          </a:solidFill>
          <a:ln w="12700">
            <a:solidFill>
              <a:srgbClr val="67C5B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5257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spc="170" kern="0" dirty="0">
                <a:solidFill>
                  <a:srgbClr val="67C5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BUILT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859536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三条链路，构成可运行的产品闭环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55648"/>
            <a:ext cx="3511296" cy="4224528"/>
          </a:xfrm>
          <a:prstGeom prst="roundRect">
            <a:avLst>
              <a:gd name="adj" fmla="val 3385"/>
            </a:avLst>
          </a:prstGeom>
          <a:solidFill>
            <a:srgbClr val="0E2430"/>
          </a:solidFill>
          <a:ln w="7620">
            <a:solidFill>
              <a:srgbClr val="2C4E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55648"/>
            <a:ext cx="3511296" cy="91440"/>
          </a:xfrm>
          <a:prstGeom prst="rect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39112"/>
            <a:ext cx="5852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476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243230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观众端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86968" y="2944368"/>
            <a:ext cx="28529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A4B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从浏览到观影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86968" y="3419856"/>
            <a:ext cx="2980944" cy="0"/>
          </a:xfrm>
          <a:prstGeom prst="line">
            <a:avLst/>
          </a:prstGeom>
          <a:noFill/>
          <a:ln w="8255">
            <a:solidFill>
              <a:srgbClr val="35545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" y="3817620"/>
            <a:ext cx="68580" cy="68580"/>
          </a:xfrm>
          <a:prstGeom prst="ellipse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8136" y="367588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影片、影院与两周排期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5256" y="4283964"/>
            <a:ext cx="68580" cy="68580"/>
          </a:xfrm>
          <a:prstGeom prst="ellipse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8136" y="414223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选座锁座、订单与出票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5256" y="4750308"/>
            <a:ext cx="68580" cy="68580"/>
          </a:xfrm>
          <a:prstGeom prst="ellipse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8136" y="4608576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退票资格、电子票与验票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56" y="5216652"/>
            <a:ext cx="68580" cy="68580"/>
          </a:xfrm>
          <a:prstGeom prst="ellipse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" y="507492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购票后影评与互动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9704" y="1755648"/>
            <a:ext cx="3511296" cy="4224528"/>
          </a:xfrm>
          <a:prstGeom prst="roundRect">
            <a:avLst>
              <a:gd name="adj" fmla="val 3385"/>
            </a:avLst>
          </a:prstGeom>
          <a:solidFill>
            <a:srgbClr val="0E2430"/>
          </a:solidFill>
          <a:ln w="7620">
            <a:solidFill>
              <a:srgbClr val="2C4E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9704" y="1755648"/>
            <a:ext cx="3511296" cy="91440"/>
          </a:xfrm>
          <a:prstGeom prst="rect">
            <a:avLst/>
          </a:prstGeom>
          <a:solidFill>
            <a:srgbClr val="67C5B9"/>
          </a:solidFill>
          <a:ln w="12700">
            <a:solidFill>
              <a:srgbClr val="67C5B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039112"/>
            <a:ext cx="5852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7C5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36592" y="243230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36592" y="2944368"/>
            <a:ext cx="28529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A4B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从排期到现场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36592" y="3419856"/>
            <a:ext cx="2980944" cy="0"/>
          </a:xfrm>
          <a:prstGeom prst="line">
            <a:avLst/>
          </a:prstGeom>
          <a:noFill/>
          <a:ln w="8255">
            <a:solidFill>
              <a:srgbClr val="35545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817620"/>
            <a:ext cx="68580" cy="68580"/>
          </a:xfrm>
          <a:prstGeom prst="ellipse">
            <a:avLst/>
          </a:prstGeom>
          <a:solidFill>
            <a:srgbClr val="67C5B9"/>
          </a:solidFill>
          <a:ln w="12700">
            <a:solidFill>
              <a:srgbClr val="67C5B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67588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影片资料与售票周期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283964"/>
            <a:ext cx="68580" cy="68580"/>
          </a:xfrm>
          <a:prstGeom prst="ellipse">
            <a:avLst/>
          </a:prstGeom>
          <a:solidFill>
            <a:srgbClr val="67C5B9"/>
          </a:solidFill>
          <a:ln w="12700">
            <a:solidFill>
              <a:srgbClr val="67C5B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414223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影院、影厅及座位管理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4750308"/>
            <a:ext cx="68580" cy="68580"/>
          </a:xfrm>
          <a:prstGeom prst="ellipse">
            <a:avLst/>
          </a:prstGeom>
          <a:solidFill>
            <a:srgbClr val="67C5B9"/>
          </a:solidFill>
          <a:ln w="12700">
            <a:solidFill>
              <a:srgbClr val="67C5B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4608576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退票规则、验票入场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5216652"/>
            <a:ext cx="68580" cy="68580"/>
          </a:xfrm>
          <a:prstGeom prst="ellipse">
            <a:avLst/>
          </a:prstGeom>
          <a:solidFill>
            <a:srgbClr val="67C5B9"/>
          </a:solidFill>
          <a:ln w="12700">
            <a:solidFill>
              <a:srgbClr val="67C5B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507492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影评审核、举报与 AI 反馈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39328" y="1755648"/>
            <a:ext cx="3511296" cy="4224528"/>
          </a:xfrm>
          <a:prstGeom prst="roundRect">
            <a:avLst>
              <a:gd name="adj" fmla="val 3385"/>
            </a:avLst>
          </a:prstGeom>
          <a:solidFill>
            <a:srgbClr val="0E2430"/>
          </a:solidFill>
          <a:ln w="7620">
            <a:solidFill>
              <a:srgbClr val="2C4E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39328" y="1755648"/>
            <a:ext cx="3511296" cy="91440"/>
          </a:xfrm>
          <a:prstGeom prst="rect">
            <a:avLst/>
          </a:prstGeom>
          <a:solidFill>
            <a:srgbClr val="E9A45B"/>
          </a:solidFill>
          <a:ln w="12700">
            <a:solidFill>
              <a:srgbClr val="E9A45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86216" y="2039112"/>
            <a:ext cx="5852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9A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86216" y="243230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影院助手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586216" y="2944368"/>
            <a:ext cx="28529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A4B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问答与实时查询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86216" y="3419856"/>
            <a:ext cx="2980944" cy="0"/>
          </a:xfrm>
          <a:prstGeom prst="line">
            <a:avLst/>
          </a:prstGeom>
          <a:noFill/>
          <a:ln w="8255">
            <a:solidFill>
              <a:srgbClr val="35545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04504" y="3817620"/>
            <a:ext cx="68580" cy="68580"/>
          </a:xfrm>
          <a:prstGeom prst="ellipse">
            <a:avLst/>
          </a:prstGeom>
          <a:solidFill>
            <a:srgbClr val="E9A45B"/>
          </a:solidFill>
          <a:ln w="12700">
            <a:solidFill>
              <a:srgbClr val="E9A45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87384" y="367588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 承接常见问题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604504" y="4283964"/>
            <a:ext cx="68580" cy="68580"/>
          </a:xfrm>
          <a:prstGeom prst="ellipse">
            <a:avLst/>
          </a:prstGeom>
          <a:solidFill>
            <a:srgbClr val="E9A45B"/>
          </a:solidFill>
          <a:ln w="12700">
            <a:solidFill>
              <a:srgbClr val="E9A45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87384" y="414223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手动转接内部实时 Agent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604504" y="4750308"/>
            <a:ext cx="68580" cy="68580"/>
          </a:xfrm>
          <a:prstGeom prst="ellipse">
            <a:avLst/>
          </a:prstGeom>
          <a:solidFill>
            <a:srgbClr val="E9A45B"/>
          </a:solidFill>
          <a:ln w="12700">
            <a:solidFill>
              <a:srgbClr val="E9A45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87384" y="4608576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查询影片、场次、本人订单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604504" y="5216652"/>
            <a:ext cx="68580" cy="68580"/>
          </a:xfrm>
          <a:prstGeom prst="ellipse">
            <a:avLst/>
          </a:prstGeom>
          <a:solidFill>
            <a:srgbClr val="E9A45B"/>
          </a:solidFill>
          <a:ln w="12700">
            <a:solidFill>
              <a:srgbClr val="E9A45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87384" y="507492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会话恢复与回答反馈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6985">
            <a:solidFill>
              <a:srgbClr val="27434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100" kern="0" dirty="0">
                <a:solidFill>
                  <a:srgbClr val="789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  /  PRODUCT INTRODUCTION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137392" y="651052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789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100584"/>
          </a:xfrm>
          <a:prstGeom prst="rect">
            <a:avLst/>
          </a:prstGeom>
          <a:solidFill>
            <a:srgbClr val="4A9C8E"/>
          </a:solidFill>
          <a:ln w="12700">
            <a:solidFill>
              <a:srgbClr val="4A9C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5257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spc="170" kern="0" dirty="0">
                <a:solidFill>
                  <a:srgbClr val="4A9C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JOURNEY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859536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观众旅程：每一步都有明确状态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79576" y="2880360"/>
            <a:ext cx="9793224" cy="0"/>
          </a:xfrm>
          <a:prstGeom prst="line">
            <a:avLst/>
          </a:prstGeom>
          <a:noFill/>
          <a:ln w="25400">
            <a:solidFill>
              <a:srgbClr val="DDE4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578608"/>
            <a:ext cx="603504" cy="603504"/>
          </a:xfrm>
          <a:prstGeom prst="ellipse">
            <a:avLst/>
          </a:prstGeom>
          <a:solidFill>
            <a:srgbClr val="0E2430"/>
          </a:solidFill>
          <a:ln w="12700">
            <a:solidFill>
              <a:srgbClr val="0E243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72491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435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9593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47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影片 / 影院 / 评分</a:t>
            </a:r>
            <a:endParaRPr lang="en-US" sz="1147" dirty="0"/>
          </a:p>
        </p:txBody>
      </p:sp>
      <p:sp>
        <p:nvSpPr>
          <p:cNvPr id="10" name="Shape 8"/>
          <p:cNvSpPr/>
          <p:nvPr/>
        </p:nvSpPr>
        <p:spPr>
          <a:xfrm>
            <a:off x="2971800" y="2578608"/>
            <a:ext cx="603504" cy="603504"/>
          </a:xfrm>
          <a:prstGeom prst="ellipse">
            <a:avLst/>
          </a:prstGeom>
          <a:solidFill>
            <a:srgbClr val="0E2430"/>
          </a:solidFill>
          <a:ln w="12700">
            <a:solidFill>
              <a:srgbClr val="0E243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72491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60320" y="3429000"/>
            <a:ext cx="1435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468880" y="39593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47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可售场次 / 两周视图</a:t>
            </a:r>
            <a:endParaRPr lang="en-US" sz="1147" dirty="0"/>
          </a:p>
        </p:txBody>
      </p:sp>
      <p:sp>
        <p:nvSpPr>
          <p:cNvPr id="14" name="Shape 12"/>
          <p:cNvSpPr/>
          <p:nvPr/>
        </p:nvSpPr>
        <p:spPr>
          <a:xfrm>
            <a:off x="4892040" y="2578608"/>
            <a:ext cx="603504" cy="603504"/>
          </a:xfrm>
          <a:prstGeom prst="ellipse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72491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80560" y="3429000"/>
            <a:ext cx="1435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选座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389120" y="39593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47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座位图 / 短期锁定</a:t>
            </a:r>
            <a:endParaRPr lang="en-US" sz="1147" dirty="0"/>
          </a:p>
        </p:txBody>
      </p:sp>
      <p:sp>
        <p:nvSpPr>
          <p:cNvPr id="18" name="Shape 16"/>
          <p:cNvSpPr/>
          <p:nvPr/>
        </p:nvSpPr>
        <p:spPr>
          <a:xfrm>
            <a:off x="6812280" y="2578608"/>
            <a:ext cx="603504" cy="603504"/>
          </a:xfrm>
          <a:prstGeom prst="ellipse">
            <a:avLst/>
          </a:prstGeom>
          <a:solidFill>
            <a:srgbClr val="0E2430"/>
          </a:solidFill>
          <a:ln w="12700">
            <a:solidFill>
              <a:srgbClr val="0E243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272491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0" y="3429000"/>
            <a:ext cx="1435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09360" y="39593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47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分钟待支付</a:t>
            </a:r>
            <a:endParaRPr lang="en-US" sz="1147" dirty="0"/>
          </a:p>
        </p:txBody>
      </p:sp>
      <p:sp>
        <p:nvSpPr>
          <p:cNvPr id="22" name="Shape 20"/>
          <p:cNvSpPr/>
          <p:nvPr/>
        </p:nvSpPr>
        <p:spPr>
          <a:xfrm>
            <a:off x="8732520" y="2578608"/>
            <a:ext cx="603504" cy="603504"/>
          </a:xfrm>
          <a:prstGeom prst="ellipse">
            <a:avLst/>
          </a:prstGeom>
          <a:solidFill>
            <a:srgbClr val="0E2430"/>
          </a:solidFill>
          <a:ln w="12700">
            <a:solidFill>
              <a:srgbClr val="0E243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272491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321040" y="3429000"/>
            <a:ext cx="1435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出票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0" y="39593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47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模拟支付 / 电子票</a:t>
            </a:r>
            <a:endParaRPr lang="en-US" sz="1147" dirty="0"/>
          </a:p>
        </p:txBody>
      </p:sp>
      <p:sp>
        <p:nvSpPr>
          <p:cNvPr id="26" name="Shape 24"/>
          <p:cNvSpPr/>
          <p:nvPr/>
        </p:nvSpPr>
        <p:spPr>
          <a:xfrm>
            <a:off x="10652760" y="2578608"/>
            <a:ext cx="603504" cy="603504"/>
          </a:xfrm>
          <a:prstGeom prst="ellipse">
            <a:avLst/>
          </a:prstGeom>
          <a:solidFill>
            <a:srgbClr val="0E2430"/>
          </a:solidFill>
          <a:ln w="12700">
            <a:solidFill>
              <a:srgbClr val="0E243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52760" y="272491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241280" y="3429000"/>
            <a:ext cx="1435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观影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0149840" y="39593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47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验票 / 影评互动</a:t>
            </a:r>
            <a:endParaRPr lang="en-US" sz="1147" dirty="0"/>
          </a:p>
        </p:txBody>
      </p:sp>
      <p:sp>
        <p:nvSpPr>
          <p:cNvPr id="30" name="Shape 28"/>
          <p:cNvSpPr/>
          <p:nvPr/>
        </p:nvSpPr>
        <p:spPr>
          <a:xfrm>
            <a:off x="640080" y="5138928"/>
            <a:ext cx="10908792" cy="640080"/>
          </a:xfrm>
          <a:prstGeom prst="roundRect">
            <a:avLst>
              <a:gd name="adj" fmla="val 17143"/>
            </a:avLst>
          </a:prstGeom>
          <a:solidFill>
            <a:srgbClr val="FFFEFA"/>
          </a:solidFill>
          <a:ln w="12700">
            <a:solidFill>
              <a:srgbClr val="FFFEFA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5303520"/>
            <a:ext cx="1847088" cy="310896"/>
          </a:xfrm>
          <a:prstGeom prst="roundRect">
            <a:avLst>
              <a:gd name="adj" fmla="val 47059"/>
            </a:avLst>
          </a:prstGeom>
          <a:solidFill>
            <a:srgbClr val="FDEAE3"/>
          </a:solidFill>
          <a:ln w="12700">
            <a:solidFill>
              <a:srgbClr val="FDEAE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" y="533552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47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 6 座 / 单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035808" y="5303520"/>
            <a:ext cx="1847088" cy="310896"/>
          </a:xfrm>
          <a:prstGeom prst="roundRect">
            <a:avLst>
              <a:gd name="adj" fmla="val 47059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0" y="533552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A9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锁座 5 分钟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93792" y="5303520"/>
            <a:ext cx="1901952" cy="310896"/>
          </a:xfrm>
          <a:prstGeom prst="roundRect">
            <a:avLst>
              <a:gd name="adj" fmla="val 47059"/>
            </a:avLst>
          </a:prstGeom>
          <a:solidFill>
            <a:srgbClr val="E8EFF1"/>
          </a:solidFill>
          <a:ln w="12700">
            <a:solidFill>
              <a:srgbClr val="E8EFF1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66944" y="533552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941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超时自动取消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06640" y="5303520"/>
            <a:ext cx="1847088" cy="310896"/>
          </a:xfrm>
          <a:prstGeom prst="roundRect">
            <a:avLst>
              <a:gd name="adj" fmla="val 47059"/>
            </a:avLst>
          </a:prstGeom>
          <a:solidFill>
            <a:srgbClr val="F7EDE0"/>
          </a:solidFill>
          <a:ln w="12700">
            <a:solidFill>
              <a:srgbClr val="F7EDE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9792" y="533552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A46C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按规则退票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6985">
            <a:solidFill>
              <a:srgbClr val="DDE4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100" kern="0" dirty="0">
                <a:solidFill>
                  <a:srgbClr val="8B99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  /  PRODUCT INTRODUCTION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137392" y="651052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8B99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100584"/>
          </a:xfrm>
          <a:prstGeom prst="rect">
            <a:avLst/>
          </a:prstGeom>
          <a:solidFill>
            <a:srgbClr val="67C5B9"/>
          </a:solidFill>
          <a:ln w="12700">
            <a:solidFill>
              <a:srgbClr val="67C5B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5257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spc="170" kern="0" dirty="0">
                <a:solidFill>
                  <a:srgbClr val="67C5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RELIABILITY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859536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座位是一份实时承诺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1848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速度交给 Redis，最终事实交给 MySQL。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404872"/>
            <a:ext cx="2432304" cy="1600200"/>
          </a:xfrm>
          <a:prstGeom prst="roundRect">
            <a:avLst>
              <a:gd name="adj" fmla="val 7429"/>
            </a:avLst>
          </a:prstGeom>
          <a:solidFill>
            <a:srgbClr val="0E2430"/>
          </a:solidFill>
          <a:ln w="8890">
            <a:solidFill>
              <a:srgbClr val="3151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404872"/>
            <a:ext cx="2432304" cy="82296"/>
          </a:xfrm>
          <a:prstGeom prst="rect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7004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原子锁座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72968"/>
            <a:ext cx="2066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9" dirty="0">
                <a:solidFill>
                  <a:srgbClr val="A4B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Lua 一次检查并锁定所有座位</a:t>
            </a:r>
            <a:endParaRPr lang="en-US" sz="1009" dirty="0"/>
          </a:p>
        </p:txBody>
      </p:sp>
      <p:sp>
        <p:nvSpPr>
          <p:cNvPr id="10" name="Shape 8"/>
          <p:cNvSpPr/>
          <p:nvPr/>
        </p:nvSpPr>
        <p:spPr>
          <a:xfrm>
            <a:off x="3675888" y="2404872"/>
            <a:ext cx="2432304" cy="1600200"/>
          </a:xfrm>
          <a:prstGeom prst="roundRect">
            <a:avLst>
              <a:gd name="adj" fmla="val 7429"/>
            </a:avLst>
          </a:prstGeom>
          <a:solidFill>
            <a:srgbClr val="0E2430"/>
          </a:solidFill>
          <a:ln w="8890">
            <a:solidFill>
              <a:srgbClr val="3151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75888" y="2404872"/>
            <a:ext cx="2432304" cy="82296"/>
          </a:xfrm>
          <a:prstGeom prst="rect">
            <a:avLst/>
          </a:prstGeom>
          <a:solidFill>
            <a:srgbClr val="67C5B9"/>
          </a:solidFill>
          <a:ln w="12700">
            <a:solidFill>
              <a:srgbClr val="67C5B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267004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创建订单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58768" y="3172968"/>
            <a:ext cx="2066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3" dirty="0">
                <a:solidFill>
                  <a:srgbClr val="A4B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requestId 幂等；数据库事务保护状态</a:t>
            </a:r>
            <a:endParaRPr lang="en-US" sz="1003" dirty="0"/>
          </a:p>
        </p:txBody>
      </p:sp>
      <p:sp>
        <p:nvSpPr>
          <p:cNvPr id="14" name="Shape 12"/>
          <p:cNvSpPr/>
          <p:nvPr/>
        </p:nvSpPr>
        <p:spPr>
          <a:xfrm>
            <a:off x="6620256" y="2404872"/>
            <a:ext cx="2432304" cy="1600200"/>
          </a:xfrm>
          <a:prstGeom prst="roundRect">
            <a:avLst>
              <a:gd name="adj" fmla="val 7429"/>
            </a:avLst>
          </a:prstGeom>
          <a:solidFill>
            <a:srgbClr val="0E2430"/>
          </a:solidFill>
          <a:ln w="8890">
            <a:solidFill>
              <a:srgbClr val="3151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0256" y="2404872"/>
            <a:ext cx="2432304" cy="82296"/>
          </a:xfrm>
          <a:prstGeom prst="rect">
            <a:avLst/>
          </a:prstGeom>
          <a:solidFill>
            <a:srgbClr val="E9A45B"/>
          </a:solidFill>
          <a:ln w="12700">
            <a:solidFill>
              <a:srgbClr val="E9A45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267004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模拟支付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03136" y="3172968"/>
            <a:ext cx="2066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66" dirty="0">
                <a:solidFill>
                  <a:srgbClr val="A4B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支付流水号幂等；成功后立即出票</a:t>
            </a:r>
            <a:endParaRPr lang="en-US" sz="1066" dirty="0"/>
          </a:p>
        </p:txBody>
      </p:sp>
      <p:sp>
        <p:nvSpPr>
          <p:cNvPr id="18" name="Shape 16"/>
          <p:cNvSpPr/>
          <p:nvPr/>
        </p:nvSpPr>
        <p:spPr>
          <a:xfrm>
            <a:off x="3227832" y="3200400"/>
            <a:ext cx="320040" cy="0"/>
          </a:xfrm>
          <a:prstGeom prst="line">
            <a:avLst/>
          </a:prstGeom>
          <a:noFill/>
          <a:ln w="25400">
            <a:solidFill>
              <a:srgbClr val="67C5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3108960"/>
            <a:ext cx="118872" cy="91440"/>
          </a:xfrm>
          <a:prstGeom prst="line">
            <a:avLst/>
          </a:prstGeom>
          <a:noFill/>
          <a:ln w="25400">
            <a:solidFill>
              <a:srgbClr val="67C5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3291840"/>
            <a:ext cx="118872" cy="-91440"/>
          </a:xfrm>
          <a:prstGeom prst="line">
            <a:avLst/>
          </a:prstGeom>
          <a:noFill/>
          <a:ln w="25400">
            <a:solidFill>
              <a:srgbClr val="67C5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200400"/>
            <a:ext cx="320040" cy="0"/>
          </a:xfrm>
          <a:prstGeom prst="line">
            <a:avLst/>
          </a:prstGeom>
          <a:noFill/>
          <a:ln w="25400">
            <a:solidFill>
              <a:srgbClr val="67C5B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3368" y="3108960"/>
            <a:ext cx="118872" cy="91440"/>
          </a:xfrm>
          <a:prstGeom prst="line">
            <a:avLst/>
          </a:prstGeom>
          <a:noFill/>
          <a:ln w="25400">
            <a:solidFill>
              <a:srgbClr val="67C5B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3368" y="3291840"/>
            <a:ext cx="118872" cy="-91440"/>
          </a:xfrm>
          <a:prstGeom prst="line">
            <a:avLst/>
          </a:prstGeom>
          <a:noFill/>
          <a:ln w="25400">
            <a:solidFill>
              <a:srgbClr val="67C5B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18320" y="2404872"/>
            <a:ext cx="2029968" cy="1600200"/>
          </a:xfrm>
          <a:prstGeom prst="roundRect">
            <a:avLst>
              <a:gd name="adj" fmla="val 7429"/>
            </a:avLst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82912" y="267004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电子票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582912" y="318211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9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订单与票项进入已出票状态</a:t>
            </a:r>
            <a:endParaRPr lang="en-US" sz="1097" dirty="0"/>
          </a:p>
        </p:txBody>
      </p:sp>
      <p:sp>
        <p:nvSpPr>
          <p:cNvPr id="27" name="Shape 25"/>
          <p:cNvSpPr/>
          <p:nvPr/>
        </p:nvSpPr>
        <p:spPr>
          <a:xfrm>
            <a:off x="758952" y="4626864"/>
            <a:ext cx="10707624" cy="0"/>
          </a:xfrm>
          <a:prstGeom prst="line">
            <a:avLst/>
          </a:prstGeom>
          <a:noFill/>
          <a:ln w="8890">
            <a:solidFill>
              <a:srgbClr val="3151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" y="4937760"/>
            <a:ext cx="5120640" cy="795528"/>
          </a:xfrm>
          <a:prstGeom prst="roundRect">
            <a:avLst>
              <a:gd name="adj" fmla="val 12644"/>
            </a:avLst>
          </a:prstGeom>
          <a:solidFill>
            <a:srgbClr val="0E2430"/>
          </a:solidFill>
          <a:ln w="12700">
            <a:solidFill>
              <a:srgbClr val="0E243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5093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9A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未支付超时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40864" y="5084064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RabbitMQ 延迟取消 + 定时对账补偿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81344" y="4937760"/>
            <a:ext cx="5266944" cy="795528"/>
          </a:xfrm>
          <a:prstGeom prst="roundRect">
            <a:avLst>
              <a:gd name="adj" fmla="val 12644"/>
            </a:avLst>
          </a:prstGeom>
          <a:solidFill>
            <a:srgbClr val="0E2430"/>
          </a:solidFill>
          <a:ln w="12700">
            <a:solidFill>
              <a:srgbClr val="0E243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5093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67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退款校验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53528" y="5084064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读取当前规则，验票后整单不可退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6985">
            <a:solidFill>
              <a:srgbClr val="2743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100" kern="0" dirty="0">
                <a:solidFill>
                  <a:srgbClr val="789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  /  PRODUCT INTRODUCTION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137392" y="651052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789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100584"/>
          </a:xfrm>
          <a:prstGeom prst="rect">
            <a:avLst/>
          </a:prstGeom>
          <a:solidFill>
            <a:srgbClr val="4A9C8E"/>
          </a:solidFill>
          <a:ln w="12700">
            <a:solidFill>
              <a:srgbClr val="4A9C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5257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spc="170" kern="0" dirty="0">
                <a:solidFill>
                  <a:srgbClr val="4A9C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859536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后台运营：内容、场次、现场协同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9224" y="1737360"/>
            <a:ext cx="5989320" cy="4343400"/>
          </a:xfrm>
          <a:prstGeom prst="roundRect">
            <a:avLst>
              <a:gd name="adj" fmla="val 3368"/>
            </a:avLst>
          </a:prstGeom>
          <a:solidFill>
            <a:srgbClr val="FFFEFA"/>
          </a:solidFill>
          <a:ln w="7620">
            <a:solidFill>
              <a:srgbClr val="DDE4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737360"/>
            <a:ext cx="1188720" cy="4343400"/>
          </a:xfrm>
          <a:prstGeom prst="roundRect">
            <a:avLst>
              <a:gd name="adj" fmla="val 12308"/>
            </a:avLst>
          </a:prstGeom>
          <a:solidFill>
            <a:srgbClr val="0E2430"/>
          </a:solidFill>
          <a:ln w="12700">
            <a:solidFill>
              <a:srgbClr val="0E243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93852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90" kern="0" dirty="0">
                <a:solidFill>
                  <a:srgbClr val="67C5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2104" y="251460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40" dirty="0">
                <a:solidFill>
                  <a:srgbClr val="A4B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概览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832104" y="29535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40" dirty="0">
                <a:solidFill>
                  <a:srgbClr val="A4B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影片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731520" y="3346704"/>
            <a:ext cx="969264" cy="301752"/>
          </a:xfrm>
          <a:prstGeom prst="roundRect">
            <a:avLst>
              <a:gd name="adj" fmla="val 21212"/>
            </a:avLst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33924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排期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832104" y="383133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40" dirty="0">
                <a:solidFill>
                  <a:srgbClr val="A4B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影厅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832104" y="42702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40" dirty="0">
                <a:solidFill>
                  <a:srgbClr val="A4B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影评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832104" y="47091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40" dirty="0">
                <a:solidFill>
                  <a:srgbClr val="A4B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验票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2112264" y="198424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今日运营概览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21408" y="23682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影片 · 场次 · 现场服务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103120" y="2898648"/>
            <a:ext cx="1170432" cy="868680"/>
          </a:xfrm>
          <a:prstGeom prst="roundRect">
            <a:avLst>
              <a:gd name="adj" fmla="val 10526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3063240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影片管理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212848" y="339242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正在上映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83864" y="2898648"/>
            <a:ext cx="1170432" cy="868680"/>
          </a:xfrm>
          <a:prstGeom prst="roundRect">
            <a:avLst>
              <a:gd name="adj" fmla="val 10526"/>
            </a:avLst>
          </a:prstGeom>
          <a:solidFill>
            <a:srgbClr val="FDEAE3"/>
          </a:solidFill>
          <a:ln w="12700">
            <a:solidFill>
              <a:srgbClr val="FDEAE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3063240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场次排期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3593592" y="339242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时段校验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64608" y="2898648"/>
            <a:ext cx="1170432" cy="868680"/>
          </a:xfrm>
          <a:prstGeom prst="roundRect">
            <a:avLst>
              <a:gd name="adj" fmla="val 10526"/>
            </a:avLst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74336" y="3063240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影厅座位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974336" y="339242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可视布局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03120" y="408736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场次日历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103120" y="4480560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DDECE7"/>
          </a:solidFill>
          <a:ln w="12700">
            <a:solidFill>
              <a:srgbClr val="DDECE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460857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852928" y="4480560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52928" y="460857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02736" y="4480560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DDECE7"/>
          </a:solidFill>
          <a:ln w="12700">
            <a:solidFill>
              <a:srgbClr val="DDECE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460857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352544" y="4480560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2544" y="460857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102352" y="4480560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DDECE7"/>
          </a:solidFill>
          <a:ln w="12700">
            <a:solidFill>
              <a:srgbClr val="DDECE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2352" y="460857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03120" y="5230368"/>
            <a:ext cx="4078224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5413248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3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排期冲突 / 营业时间 / 片长 + 周转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7086600" y="1810512"/>
            <a:ext cx="365760" cy="365760"/>
          </a:xfrm>
          <a:prstGeom prst="ellipse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86600" y="183794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653528" y="17556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影片与排期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653528" y="21579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售票窗口、影厅时段、20 分钟周转校验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644384" y="2633472"/>
            <a:ext cx="3694176" cy="0"/>
          </a:xfrm>
          <a:prstGeom prst="line">
            <a:avLst/>
          </a:prstGeom>
          <a:noFill/>
          <a:ln w="8890">
            <a:solidFill>
              <a:srgbClr val="DDE4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86600" y="2843784"/>
            <a:ext cx="365760" cy="365760"/>
          </a:xfrm>
          <a:prstGeom prst="ellipse">
            <a:avLst/>
          </a:prstGeom>
          <a:solidFill>
            <a:srgbClr val="0E2430"/>
          </a:solidFill>
          <a:ln w="12700">
            <a:solidFill>
              <a:srgbClr val="0E2430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86600" y="287121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653528" y="27889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空间与座位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653528" y="31912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影厅布局、座位状态及历史订单约束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644384" y="3666744"/>
            <a:ext cx="3694176" cy="0"/>
          </a:xfrm>
          <a:prstGeom prst="line">
            <a:avLst/>
          </a:prstGeom>
          <a:noFill/>
          <a:ln w="8890">
            <a:solidFill>
              <a:srgbClr val="DDE4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86600" y="3877056"/>
            <a:ext cx="365760" cy="365760"/>
          </a:xfrm>
          <a:prstGeom prst="ellipse">
            <a:avLst/>
          </a:prstGeom>
          <a:solidFill>
            <a:srgbClr val="0E2430"/>
          </a:solidFill>
          <a:ln w="12700">
            <a:solidFill>
              <a:srgbClr val="0E2430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86600" y="39044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653528" y="38221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票务与现场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653528" y="4224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退票规则、订单查询、逐票验票入场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644384" y="4700016"/>
            <a:ext cx="3694176" cy="0"/>
          </a:xfrm>
          <a:prstGeom prst="line">
            <a:avLst/>
          </a:prstGeom>
          <a:noFill/>
          <a:ln w="8890">
            <a:solidFill>
              <a:srgbClr val="DDE4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86600" y="4910328"/>
            <a:ext cx="365760" cy="365760"/>
          </a:xfrm>
          <a:prstGeom prst="ellipse">
            <a:avLst/>
          </a:prstGeom>
          <a:solidFill>
            <a:srgbClr val="0E2430"/>
          </a:solidFill>
          <a:ln w="12700">
            <a:solidFill>
              <a:srgbClr val="0E2430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86600" y="493776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653528" y="48554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内容与反馈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653528" y="52578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影评/回复审核、举报、AI 回答评价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6985">
            <a:solidFill>
              <a:srgbClr val="DDE4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100" kern="0" dirty="0">
                <a:solidFill>
                  <a:srgbClr val="8B99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  /  PRODUCT INTRODUCTION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1137392" y="651052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8B99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100584"/>
          </a:xfrm>
          <a:prstGeom prst="rect">
            <a:avLst/>
          </a:prstGeom>
          <a:solidFill>
            <a:srgbClr val="4A9C8E"/>
          </a:solidFill>
          <a:ln w="12700">
            <a:solidFill>
              <a:srgbClr val="4A9C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5257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spc="170" kern="0" dirty="0">
                <a:solidFill>
                  <a:srgbClr val="4A9C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859536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观影之后，评价才成为可信内容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9224" y="1764792"/>
            <a:ext cx="5020056" cy="4279392"/>
          </a:xfrm>
          <a:prstGeom prst="roundRect">
            <a:avLst>
              <a:gd name="adj" fmla="val 3419"/>
            </a:avLst>
          </a:prstGeom>
          <a:solidFill>
            <a:srgbClr val="0E2430"/>
          </a:solidFill>
          <a:ln w="12700">
            <a:solidFill>
              <a:srgbClr val="0E243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103120"/>
            <a:ext cx="4160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从有效电影票开始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779776"/>
            <a:ext cx="3941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97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已出票  →  已放映 / 已验票  →  可发表影评</a:t>
            </a:r>
            <a:endParaRPr lang="en-US" sz="1297" dirty="0"/>
          </a:p>
        </p:txBody>
      </p:sp>
      <p:sp>
        <p:nvSpPr>
          <p:cNvPr id="8" name="Shape 6"/>
          <p:cNvSpPr/>
          <p:nvPr/>
        </p:nvSpPr>
        <p:spPr>
          <a:xfrm>
            <a:off x="996696" y="3840480"/>
            <a:ext cx="4325112" cy="1554480"/>
          </a:xfrm>
          <a:prstGeom prst="roundRect">
            <a:avLst>
              <a:gd name="adj" fmla="val 6471"/>
            </a:avLst>
          </a:prstGeom>
          <a:solidFill>
            <a:srgbClr val="FFFEFA"/>
          </a:solidFill>
          <a:ln w="12700">
            <a:solidFill>
              <a:srgbClr val="FFFE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1016" y="4133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「这一场，值得五星。」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61872" y="463600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9A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95928" y="461772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FDEAE3"/>
          </a:solidFill>
          <a:ln w="12700">
            <a:solidFill>
              <a:srgbClr val="FDEAE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4649724"/>
            <a:ext cx="81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47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待审核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72200" y="1947672"/>
            <a:ext cx="283464" cy="283464"/>
          </a:xfrm>
          <a:prstGeom prst="ellipse">
            <a:avLst/>
          </a:prstGeom>
          <a:solidFill>
            <a:srgbClr val="67C5B9"/>
          </a:solidFill>
          <a:ln w="12700">
            <a:solidFill>
              <a:srgbClr val="67C5B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185623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99248" y="1856232"/>
            <a:ext cx="3666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97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有效已出票票项，放映结束或已验票</a:t>
            </a:r>
            <a:endParaRPr lang="en-US" sz="1197" dirty="0"/>
          </a:p>
        </p:txBody>
      </p:sp>
      <p:sp>
        <p:nvSpPr>
          <p:cNvPr id="16" name="Shape 14"/>
          <p:cNvSpPr/>
          <p:nvPr/>
        </p:nvSpPr>
        <p:spPr>
          <a:xfrm>
            <a:off x="6611112" y="2651760"/>
            <a:ext cx="4818888" cy="0"/>
          </a:xfrm>
          <a:prstGeom prst="line">
            <a:avLst/>
          </a:prstGeom>
          <a:noFill/>
          <a:ln w="8890">
            <a:solidFill>
              <a:srgbClr val="DDE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916936"/>
            <a:ext cx="283464" cy="283464"/>
          </a:xfrm>
          <a:prstGeom prst="ellipse">
            <a:avLst/>
          </a:prstGeom>
          <a:solidFill>
            <a:srgbClr val="67C5B9"/>
          </a:solidFill>
          <a:ln w="12700">
            <a:solidFill>
              <a:srgbClr val="67C5B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282549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99248" y="2825496"/>
            <a:ext cx="3666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97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一人一片一评；1–5 星与文字</a:t>
            </a:r>
            <a:endParaRPr lang="en-US" sz="1197" dirty="0"/>
          </a:p>
        </p:txBody>
      </p:sp>
      <p:sp>
        <p:nvSpPr>
          <p:cNvPr id="20" name="Shape 18"/>
          <p:cNvSpPr/>
          <p:nvPr/>
        </p:nvSpPr>
        <p:spPr>
          <a:xfrm>
            <a:off x="6611112" y="3621024"/>
            <a:ext cx="4818888" cy="0"/>
          </a:xfrm>
          <a:prstGeom prst="line">
            <a:avLst/>
          </a:prstGeom>
          <a:noFill/>
          <a:ln w="8890">
            <a:solidFill>
              <a:srgbClr val="DDE4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886200"/>
            <a:ext cx="283464" cy="283464"/>
          </a:xfrm>
          <a:prstGeom prst="ellipse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11112" y="379476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99248" y="3794760"/>
            <a:ext cx="3666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97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审核通过且仍具观影资格，才计入评分</a:t>
            </a:r>
            <a:endParaRPr lang="en-US" sz="1197" dirty="0"/>
          </a:p>
        </p:txBody>
      </p:sp>
      <p:sp>
        <p:nvSpPr>
          <p:cNvPr id="24" name="Shape 22"/>
          <p:cNvSpPr/>
          <p:nvPr/>
        </p:nvSpPr>
        <p:spPr>
          <a:xfrm>
            <a:off x="6611112" y="4590288"/>
            <a:ext cx="4818888" cy="0"/>
          </a:xfrm>
          <a:prstGeom prst="line">
            <a:avLst/>
          </a:prstGeom>
          <a:noFill/>
          <a:ln w="8890">
            <a:solidFill>
              <a:srgbClr val="DDE4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4855464"/>
            <a:ext cx="283464" cy="283464"/>
          </a:xfrm>
          <a:prstGeom prst="ellipse">
            <a:avLst/>
          </a:prstGeom>
          <a:solidFill>
            <a:srgbClr val="67C5B9"/>
          </a:solidFill>
          <a:ln w="12700">
            <a:solidFill>
              <a:srgbClr val="67C5B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1112" y="476402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99248" y="4764024"/>
            <a:ext cx="3666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97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回复、点赞、举报均有权限与审核规则</a:t>
            </a:r>
            <a:endParaRPr lang="en-US" sz="1197" dirty="0"/>
          </a:p>
        </p:txBody>
      </p:sp>
      <p:sp>
        <p:nvSpPr>
          <p:cNvPr id="28" name="Shape 26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6985">
            <a:solidFill>
              <a:srgbClr val="DDE4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100" kern="0" dirty="0">
                <a:solidFill>
                  <a:srgbClr val="8B99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  /  PRODUCT INTRODUCTION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137392" y="651052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8B99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100584"/>
          </a:xfrm>
          <a:prstGeom prst="rect">
            <a:avLst/>
          </a:prstGeom>
          <a:solidFill>
            <a:srgbClr val="67C5B9"/>
          </a:solidFill>
          <a:ln w="12700">
            <a:solidFill>
              <a:srgbClr val="67C5B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5257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spc="170" kern="0" dirty="0">
                <a:solidFill>
                  <a:srgbClr val="67C5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SERVICE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859536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影院助手：先解答，再按需查询实时数据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09344"/>
            <a:ext cx="7351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统一聊天入口，用户主动选择转接实时 Agent。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" y="2212848"/>
            <a:ext cx="5157216" cy="3328416"/>
          </a:xfrm>
          <a:prstGeom prst="roundRect">
            <a:avLst>
              <a:gd name="adj" fmla="val 4396"/>
            </a:avLst>
          </a:prstGeom>
          <a:solidFill>
            <a:srgbClr val="0E2430"/>
          </a:solidFill>
          <a:ln w="8890">
            <a:solidFill>
              <a:srgbClr val="3651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45936" y="2212848"/>
            <a:ext cx="5157216" cy="3328416"/>
          </a:xfrm>
          <a:prstGeom prst="roundRect">
            <a:avLst>
              <a:gd name="adj" fmla="val 4396"/>
            </a:avLst>
          </a:prstGeom>
          <a:solidFill>
            <a:srgbClr val="0E2430"/>
          </a:solidFill>
          <a:ln w="8890">
            <a:solidFill>
              <a:srgbClr val="3651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2496312"/>
            <a:ext cx="1197864" cy="310896"/>
          </a:xfrm>
          <a:prstGeom prst="roundRect">
            <a:avLst>
              <a:gd name="adj" fmla="val 47059"/>
            </a:avLst>
          </a:prstGeom>
          <a:solidFill>
            <a:srgbClr val="244C4D"/>
          </a:solidFill>
          <a:ln w="12700">
            <a:solidFill>
              <a:srgbClr val="244C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52831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67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默认路径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656832" y="2496312"/>
            <a:ext cx="1828800" cy="310896"/>
          </a:xfrm>
          <a:prstGeom prst="roundRect">
            <a:avLst>
              <a:gd name="adj" fmla="val 47059"/>
            </a:avLst>
          </a:prstGeom>
          <a:solidFill>
            <a:srgbClr val="5E3E3C"/>
          </a:solidFill>
          <a:ln w="12700">
            <a:solidFill>
              <a:srgbClr val="5E3E3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9984" y="252831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47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用户主动转接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78408" y="2999232"/>
            <a:ext cx="39684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 · Dify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78408" y="358444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67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→ 独立 AI 网关 → Dify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78408" y="4151376"/>
            <a:ext cx="4489704" cy="0"/>
          </a:xfrm>
          <a:prstGeom prst="line">
            <a:avLst/>
          </a:prstGeom>
          <a:noFill/>
          <a:ln w="9525">
            <a:solidFill>
              <a:srgbClr val="3A5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521708"/>
            <a:ext cx="68580" cy="68580"/>
          </a:xfrm>
          <a:prstGeom prst="ellipse">
            <a:avLst/>
          </a:prstGeom>
          <a:solidFill>
            <a:srgbClr val="67C5B9"/>
          </a:solidFill>
          <a:ln w="12700">
            <a:solidFill>
              <a:srgbClr val="67C5B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37997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通用介绍、营业与规则类问答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4942332"/>
            <a:ext cx="68580" cy="68580"/>
          </a:xfrm>
          <a:prstGeom prst="ellipse">
            <a:avLst/>
          </a:prstGeom>
          <a:solidFill>
            <a:srgbClr val="67C5B9"/>
          </a:solidFill>
          <a:ln w="12700">
            <a:solidFill>
              <a:srgbClr val="67C5B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8006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流式回复不占用 Java 长连接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56832" y="2999232"/>
            <a:ext cx="4343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实时业务 · 内部 Agent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56832" y="3584448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70" b="1" dirty="0">
                <a:solidFill>
                  <a:srgbClr val="F47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短期凭证 → Agent → Java 固定只读工具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6656832" y="4151376"/>
            <a:ext cx="4489704" cy="0"/>
          </a:xfrm>
          <a:prstGeom prst="line">
            <a:avLst/>
          </a:prstGeom>
          <a:noFill/>
          <a:ln w="9525">
            <a:solidFill>
              <a:srgbClr val="3A55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84264" y="4521708"/>
            <a:ext cx="68580" cy="68580"/>
          </a:xfrm>
          <a:prstGeom prst="ellipse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7144" y="4379976"/>
            <a:ext cx="4288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查询影片、场次、本人订单与退票资格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84264" y="4942332"/>
            <a:ext cx="68580" cy="68580"/>
          </a:xfrm>
          <a:prstGeom prst="ellipse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67144" y="4800600"/>
            <a:ext cx="4288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5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身份与数据权限由 Java 校验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6280" y="5797296"/>
            <a:ext cx="3081528" cy="283464"/>
          </a:xfrm>
          <a:prstGeom prst="roundRect">
            <a:avLst>
              <a:gd name="adj" fmla="val 45161"/>
            </a:avLst>
          </a:prstGeom>
          <a:solidFill>
            <a:srgbClr val="27444E"/>
          </a:solidFill>
          <a:ln w="12700">
            <a:solidFill>
              <a:srgbClr val="27444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5833872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A4B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不生成 SQL，也不执行交易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6985">
            <a:solidFill>
              <a:srgbClr val="2743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100" kern="0" dirty="0">
                <a:solidFill>
                  <a:srgbClr val="789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  /  PRODUCT INTRODUCTION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137392" y="651052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789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100584"/>
          </a:xfrm>
          <a:prstGeom prst="rect">
            <a:avLst/>
          </a:prstGeom>
          <a:solidFill>
            <a:srgbClr val="4A9C8E"/>
          </a:solidFill>
          <a:ln w="12700">
            <a:solidFill>
              <a:srgbClr val="4A9C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5257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spc="170" kern="0" dirty="0">
                <a:solidFill>
                  <a:srgbClr val="4A9C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859536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架构清晰分层，让票务与 AI 各司其职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911096"/>
            <a:ext cx="2130552" cy="621792"/>
          </a:xfrm>
          <a:prstGeom prst="roundRect">
            <a:avLst>
              <a:gd name="adj" fmla="val 14706"/>
            </a:avLst>
          </a:prstGeom>
          <a:solidFill>
            <a:srgbClr val="0E2430"/>
          </a:solidFill>
          <a:ln w="12700">
            <a:solidFill>
              <a:srgbClr val="0E243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01168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 / React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观众端 · 管理端 · 聊天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511296" y="1911096"/>
            <a:ext cx="1865376" cy="621792"/>
          </a:xfrm>
          <a:prstGeom prst="roundRect">
            <a:avLst>
              <a:gd name="adj" fmla="val 14706"/>
            </a:avLst>
          </a:prstGeom>
          <a:solidFill>
            <a:srgbClr val="29414D"/>
          </a:solidFill>
          <a:ln w="12700">
            <a:solidFill>
              <a:srgbClr val="2941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0116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28600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135624" y="1737360"/>
            <a:ext cx="2240280" cy="950976"/>
          </a:xfrm>
          <a:prstGeom prst="roundRect">
            <a:avLst>
              <a:gd name="adj" fmla="val 9615"/>
            </a:avLst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1928" y="1837944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81928" y="2112264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票务业务与权限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35624" y="3099816"/>
            <a:ext cx="2240280" cy="950976"/>
          </a:xfrm>
          <a:prstGeom prst="roundRect">
            <a:avLst>
              <a:gd name="adj" fmla="val 9615"/>
            </a:avLst>
          </a:prstGeom>
          <a:solidFill>
            <a:srgbClr val="67C5B9"/>
          </a:solidFill>
          <a:ln w="12700">
            <a:solidFill>
              <a:srgbClr val="67C5B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3200400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网关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34747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· SSE · 分流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198864" y="1847088"/>
            <a:ext cx="2212848" cy="667512"/>
          </a:xfrm>
          <a:prstGeom prst="roundRect">
            <a:avLst>
              <a:gd name="adj" fmla="val 13699"/>
            </a:avLst>
          </a:prstGeom>
          <a:solidFill>
            <a:srgbClr val="0E2430"/>
          </a:solidFill>
          <a:ln w="12700">
            <a:solidFill>
              <a:srgbClr val="0E243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45168" y="1947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/ Redis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45168" y="22219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业务事实 · 短期状态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198864" y="2715768"/>
            <a:ext cx="2212848" cy="667512"/>
          </a:xfrm>
          <a:prstGeom prst="roundRect">
            <a:avLst>
              <a:gd name="adj" fmla="val 13699"/>
            </a:avLst>
          </a:prstGeom>
          <a:solidFill>
            <a:srgbClr val="0E2430"/>
          </a:solidFill>
          <a:ln w="12700">
            <a:solidFill>
              <a:srgbClr val="0E243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5168" y="2816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RabbitMQ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45168" y="30906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延迟取消与补偿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198864" y="3666744"/>
            <a:ext cx="2212848" cy="667512"/>
          </a:xfrm>
          <a:prstGeom prst="roundRect">
            <a:avLst>
              <a:gd name="adj" fmla="val 13699"/>
            </a:avLst>
          </a:prstGeom>
          <a:solidFill>
            <a:srgbClr val="0E2430"/>
          </a:solidFill>
          <a:ln w="12700">
            <a:solidFill>
              <a:srgbClr val="0E243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5168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 / Agent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45168" y="40416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 · 只读查询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862072" y="2221992"/>
            <a:ext cx="649224" cy="0"/>
          </a:xfrm>
          <a:prstGeom prst="line">
            <a:avLst/>
          </a:prstGeom>
          <a:noFill/>
          <a:ln w="22860">
            <a:solidFill>
              <a:srgbClr val="4A9C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76672" y="2221992"/>
            <a:ext cx="393192" cy="0"/>
          </a:xfrm>
          <a:prstGeom prst="line">
            <a:avLst/>
          </a:prstGeom>
          <a:noFill/>
          <a:ln w="22860">
            <a:solidFill>
              <a:srgbClr val="4A9C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9864" y="2221992"/>
            <a:ext cx="0" cy="1344168"/>
          </a:xfrm>
          <a:prstGeom prst="line">
            <a:avLst/>
          </a:prstGeom>
          <a:noFill/>
          <a:ln w="22860">
            <a:solidFill>
              <a:srgbClr val="4A9C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9864" y="2221992"/>
            <a:ext cx="365760" cy="0"/>
          </a:xfrm>
          <a:prstGeom prst="line">
            <a:avLst/>
          </a:prstGeom>
          <a:noFill/>
          <a:ln w="22860">
            <a:solidFill>
              <a:srgbClr val="4A9C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9864" y="3566160"/>
            <a:ext cx="365760" cy="0"/>
          </a:xfrm>
          <a:prstGeom prst="line">
            <a:avLst/>
          </a:prstGeom>
          <a:noFill/>
          <a:ln w="22860">
            <a:solidFill>
              <a:srgbClr val="4A9C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75904" y="2221992"/>
            <a:ext cx="438912" cy="0"/>
          </a:xfrm>
          <a:prstGeom prst="line">
            <a:avLst/>
          </a:prstGeom>
          <a:noFill/>
          <a:ln w="22860">
            <a:solidFill>
              <a:srgbClr val="4A9C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14816" y="2221992"/>
            <a:ext cx="0" cy="813816"/>
          </a:xfrm>
          <a:prstGeom prst="line">
            <a:avLst/>
          </a:prstGeom>
          <a:noFill/>
          <a:ln w="22860">
            <a:solidFill>
              <a:srgbClr val="4A9C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14816" y="2185416"/>
            <a:ext cx="384048" cy="0"/>
          </a:xfrm>
          <a:prstGeom prst="line">
            <a:avLst/>
          </a:prstGeom>
          <a:noFill/>
          <a:ln w="22860">
            <a:solidFill>
              <a:srgbClr val="4A9C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14816" y="3044952"/>
            <a:ext cx="384048" cy="0"/>
          </a:xfrm>
          <a:prstGeom prst="line">
            <a:avLst/>
          </a:prstGeom>
          <a:noFill/>
          <a:ln w="22860">
            <a:solidFill>
              <a:srgbClr val="4A9C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75904" y="3575304"/>
            <a:ext cx="438912" cy="0"/>
          </a:xfrm>
          <a:prstGeom prst="line">
            <a:avLst/>
          </a:prstGeom>
          <a:noFill/>
          <a:ln w="22860">
            <a:solidFill>
              <a:srgbClr val="4A9C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14816" y="3575304"/>
            <a:ext cx="0" cy="429768"/>
          </a:xfrm>
          <a:prstGeom prst="line">
            <a:avLst/>
          </a:prstGeom>
          <a:noFill/>
          <a:ln w="22860">
            <a:solidFill>
              <a:srgbClr val="4A9C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14816" y="4005072"/>
            <a:ext cx="384048" cy="0"/>
          </a:xfrm>
          <a:prstGeom prst="line">
            <a:avLst/>
          </a:prstGeom>
          <a:noFill/>
          <a:ln w="22860">
            <a:solidFill>
              <a:srgbClr val="4A9C8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4956048"/>
            <a:ext cx="10689336" cy="740664"/>
          </a:xfrm>
          <a:prstGeom prst="roundRect">
            <a:avLst>
              <a:gd name="adj" fmla="val 13580"/>
            </a:avLst>
          </a:prstGeom>
          <a:solidFill>
            <a:srgbClr val="FFFEFA"/>
          </a:solidFill>
          <a:ln w="12700">
            <a:solidFill>
              <a:srgbClr val="FFFEF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8408" y="51755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847088" y="5148072"/>
            <a:ext cx="91988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· TypeScript · Java 21 · Spring Boot · MyBatis · MySQL · Redis · RabbitMQ · FastAPI · LangGraph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6985">
            <a:solidFill>
              <a:srgbClr val="DDE4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100" kern="0" dirty="0">
                <a:solidFill>
                  <a:srgbClr val="8B99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  /  PRODUCT INTRODUCTION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137392" y="651052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8B99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100584"/>
          </a:xfrm>
          <a:prstGeom prst="rect">
            <a:avLst/>
          </a:prstGeom>
          <a:solidFill>
            <a:srgbClr val="4A9C8E"/>
          </a:solidFill>
          <a:ln w="12700">
            <a:solidFill>
              <a:srgbClr val="4A9C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5257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spc="170" kern="0" dirty="0">
                <a:solidFill>
                  <a:srgbClr val="4A9C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STATUS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859536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真实呈现当前能力，也明确下一步空间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9224" y="1746504"/>
            <a:ext cx="3200400" cy="4261104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 w="7620">
            <a:solidFill>
              <a:srgbClr val="E2E4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746504"/>
            <a:ext cx="3200400" cy="118872"/>
          </a:xfrm>
          <a:prstGeom prst="rect">
            <a:avLst/>
          </a:prstGeom>
          <a:solidFill>
            <a:srgbClr val="4A9C8E"/>
          </a:solidFill>
          <a:ln w="12700">
            <a:solidFill>
              <a:srgbClr val="4A9C8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2039112"/>
            <a:ext cx="365760" cy="365760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9F1E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99339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当前已实现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05256" y="2660904"/>
            <a:ext cx="2660904" cy="0"/>
          </a:xfrm>
          <a:prstGeom prst="line">
            <a:avLst/>
          </a:prstGeom>
          <a:noFill/>
          <a:ln w="10160">
            <a:solidFill>
              <a:srgbClr val="DDE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544" y="3049524"/>
            <a:ext cx="68580" cy="68580"/>
          </a:xfrm>
          <a:prstGeom prst="ellipse">
            <a:avLst/>
          </a:prstGeom>
          <a:solidFill>
            <a:srgbClr val="4A9C8E"/>
          </a:solidFill>
          <a:ln w="12700">
            <a:solidFill>
              <a:srgbClr val="4A9C8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907792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完整购票、模拟支付与出票流程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923544" y="3707892"/>
            <a:ext cx="68580" cy="68580"/>
          </a:xfrm>
          <a:prstGeom prst="ellipse">
            <a:avLst/>
          </a:prstGeom>
          <a:solidFill>
            <a:srgbClr val="4A9C8E"/>
          </a:solidFill>
          <a:ln w="12700">
            <a:solidFill>
              <a:srgbClr val="4A9C8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35661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影院 / 影厅 / 座位 / 排期管理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923544" y="4366260"/>
            <a:ext cx="68580" cy="68580"/>
          </a:xfrm>
          <a:prstGeom prst="ellipse">
            <a:avLst/>
          </a:prstGeom>
          <a:solidFill>
            <a:srgbClr val="4A9C8E"/>
          </a:solidFill>
          <a:ln w="12700">
            <a:solidFill>
              <a:srgbClr val="4A9C8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424" y="422452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验票、影评审核与互动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923544" y="5024628"/>
            <a:ext cx="68580" cy="68580"/>
          </a:xfrm>
          <a:prstGeom prst="ellipse">
            <a:avLst/>
          </a:prstGeom>
          <a:solidFill>
            <a:srgbClr val="4A9C8E"/>
          </a:solidFill>
          <a:ln w="12700">
            <a:solidFill>
              <a:srgbClr val="4A9C8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4882896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 问答 + 手动转接实时 Agent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4489704" y="1746504"/>
            <a:ext cx="3200400" cy="4261104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 w="7620">
            <a:solidFill>
              <a:srgbClr val="E2E4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9704" y="1746504"/>
            <a:ext cx="3200400" cy="118872"/>
          </a:xfrm>
          <a:prstGeom prst="rect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45736" y="2039112"/>
            <a:ext cx="365760" cy="365760"/>
          </a:xfrm>
          <a:prstGeom prst="ellipse">
            <a:avLst/>
          </a:prstGeom>
          <a:solidFill>
            <a:srgbClr val="FDEAE3"/>
          </a:solidFill>
          <a:ln w="12700">
            <a:solidFill>
              <a:srgbClr val="FDEAE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99339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45736" y="2660904"/>
            <a:ext cx="2660904" cy="0"/>
          </a:xfrm>
          <a:prstGeom prst="line">
            <a:avLst/>
          </a:prstGeom>
          <a:noFill/>
          <a:ln w="10160">
            <a:solidFill>
              <a:srgbClr val="DDE4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64024" y="3049524"/>
            <a:ext cx="68580" cy="68580"/>
          </a:xfrm>
          <a:prstGeom prst="ellipse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46904" y="2907792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支付与退款未接真实资金渠道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764024" y="3707892"/>
            <a:ext cx="68580" cy="68580"/>
          </a:xfrm>
          <a:prstGeom prst="ellipse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46904" y="35661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已售场次取消及批量通知未形成闭环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764024" y="4366260"/>
            <a:ext cx="68580" cy="68580"/>
          </a:xfrm>
          <a:prstGeom prst="ellipse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46904" y="422452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ADMIN 为全局权限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4764024" y="5024628"/>
            <a:ext cx="68580" cy="68580"/>
          </a:xfrm>
          <a:prstGeom prst="ellipse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46904" y="4882896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仅使用固定只读查询工具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8330184" y="1746504"/>
            <a:ext cx="3200400" cy="4261104"/>
          </a:xfrm>
          <a:prstGeom prst="roundRect">
            <a:avLst>
              <a:gd name="adj" fmla="val 4000"/>
            </a:avLst>
          </a:prstGeom>
          <a:solidFill>
            <a:srgbClr val="FFFEFA"/>
          </a:solidFill>
          <a:ln w="7620">
            <a:solidFill>
              <a:srgbClr val="E2E4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30184" y="1746504"/>
            <a:ext cx="3200400" cy="118872"/>
          </a:xfrm>
          <a:prstGeom prst="rect">
            <a:avLst/>
          </a:prstGeom>
          <a:solidFill>
            <a:srgbClr val="B27941"/>
          </a:solidFill>
          <a:ln w="12700">
            <a:solidFill>
              <a:srgbClr val="B27941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86216" y="2039112"/>
            <a:ext cx="365760" cy="365760"/>
          </a:xfrm>
          <a:prstGeom prst="ellipse">
            <a:avLst/>
          </a:prstGeom>
          <a:solidFill>
            <a:srgbClr val="F8EBDC"/>
          </a:solidFill>
          <a:ln w="12700">
            <a:solidFill>
              <a:srgbClr val="F8EBD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199339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91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可继续演进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86216" y="2660904"/>
            <a:ext cx="2660904" cy="0"/>
          </a:xfrm>
          <a:prstGeom prst="line">
            <a:avLst/>
          </a:prstGeom>
          <a:noFill/>
          <a:ln w="10160">
            <a:solidFill>
              <a:srgbClr val="DDE4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04504" y="3049524"/>
            <a:ext cx="68580" cy="68580"/>
          </a:xfrm>
          <a:prstGeom prst="ellipse">
            <a:avLst/>
          </a:prstGeom>
          <a:solidFill>
            <a:srgbClr val="B27941"/>
          </a:solidFill>
          <a:ln w="12700">
            <a:solidFill>
              <a:srgbClr val="B27941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87384" y="2907792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对接支付渠道与对账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8604504" y="3707892"/>
            <a:ext cx="68580" cy="68580"/>
          </a:xfrm>
          <a:prstGeom prst="ellipse">
            <a:avLst/>
          </a:prstGeom>
          <a:solidFill>
            <a:srgbClr val="B27941"/>
          </a:solidFill>
          <a:ln w="12700">
            <a:solidFill>
              <a:srgbClr val="B27941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87384" y="35661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补齐已售场次取消与退款流程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8604504" y="4366260"/>
            <a:ext cx="68580" cy="68580"/>
          </a:xfrm>
          <a:prstGeom prst="ellipse">
            <a:avLst/>
          </a:prstGeom>
          <a:solidFill>
            <a:srgbClr val="B27941"/>
          </a:solidFill>
          <a:ln w="12700">
            <a:solidFill>
              <a:srgbClr val="B27941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87384" y="422452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按影院划分运营权限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8604504" y="5024628"/>
            <a:ext cx="68580" cy="68580"/>
          </a:xfrm>
          <a:prstGeom prst="ellipse">
            <a:avLst/>
          </a:prstGeom>
          <a:solidFill>
            <a:srgbClr val="B27941"/>
          </a:solidFill>
          <a:ln w="12700">
            <a:solidFill>
              <a:srgbClr val="B27941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87384" y="4882896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持续完善 Dify 工作流与知识内容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685800" y="6172200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69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说明：内容以当前仓库代码与业务文档为准；“可继续演进”是方向，不代表已承诺排期。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6985">
            <a:solidFill>
              <a:srgbClr val="DDE4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100" kern="0" dirty="0">
                <a:solidFill>
                  <a:srgbClr val="8B99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  /  PRODUCT INTRODUCTION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137392" y="651052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8B99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621792"/>
            <a:ext cx="585216" cy="585216"/>
          </a:xfrm>
          <a:prstGeom prst="ellipse">
            <a:avLst/>
          </a:prstGeom>
          <a:solidFill>
            <a:srgbClr val="183A45"/>
          </a:solidFill>
          <a:ln w="12700">
            <a:solidFill>
              <a:srgbClr val="183A4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21824" y="621792"/>
            <a:ext cx="585216" cy="585216"/>
          </a:xfrm>
          <a:prstGeom prst="ellipse">
            <a:avLst/>
          </a:prstGeom>
          <a:solidFill>
            <a:srgbClr val="12313C"/>
          </a:solidFill>
          <a:ln w="12700">
            <a:solidFill>
              <a:srgbClr val="1231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99648" y="621792"/>
            <a:ext cx="585216" cy="585216"/>
          </a:xfrm>
          <a:prstGeom prst="ellipse">
            <a:avLst/>
          </a:prstGeom>
          <a:solidFill>
            <a:srgbClr val="12313C"/>
          </a:solidFill>
          <a:ln w="12700">
            <a:solidFill>
              <a:srgbClr val="12313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1572768"/>
            <a:ext cx="585216" cy="585216"/>
          </a:xfrm>
          <a:prstGeom prst="ellipse">
            <a:avLst/>
          </a:prstGeom>
          <a:solidFill>
            <a:srgbClr val="183A45"/>
          </a:solidFill>
          <a:ln w="12700">
            <a:solidFill>
              <a:srgbClr val="183A4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21824" y="1572768"/>
            <a:ext cx="585216" cy="585216"/>
          </a:xfrm>
          <a:prstGeom prst="ellipse">
            <a:avLst/>
          </a:prstGeom>
          <a:solidFill>
            <a:srgbClr val="12313C"/>
          </a:solidFill>
          <a:ln w="12700">
            <a:solidFill>
              <a:srgbClr val="12313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99648" y="1572768"/>
            <a:ext cx="585216" cy="585216"/>
          </a:xfrm>
          <a:prstGeom prst="ellipse">
            <a:avLst/>
          </a:prstGeom>
          <a:solidFill>
            <a:srgbClr val="12313C"/>
          </a:solidFill>
          <a:ln w="12700">
            <a:solidFill>
              <a:srgbClr val="12313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2523744"/>
            <a:ext cx="585216" cy="585216"/>
          </a:xfrm>
          <a:prstGeom prst="ellipse">
            <a:avLst/>
          </a:prstGeom>
          <a:solidFill>
            <a:srgbClr val="183A45"/>
          </a:solidFill>
          <a:ln w="12700">
            <a:solidFill>
              <a:srgbClr val="183A4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21824" y="2523744"/>
            <a:ext cx="585216" cy="585216"/>
          </a:xfrm>
          <a:prstGeom prst="ellipse">
            <a:avLst/>
          </a:prstGeom>
          <a:solidFill>
            <a:srgbClr val="12313C"/>
          </a:solidFill>
          <a:ln w="12700">
            <a:solidFill>
              <a:srgbClr val="12313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99648" y="2523744"/>
            <a:ext cx="585216" cy="585216"/>
          </a:xfrm>
          <a:prstGeom prst="ellipse">
            <a:avLst/>
          </a:prstGeom>
          <a:solidFill>
            <a:srgbClr val="12313C"/>
          </a:solidFill>
          <a:ln w="12700">
            <a:solidFill>
              <a:srgbClr val="12313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594360"/>
            <a:ext cx="91440" cy="118872"/>
          </a:xfrm>
          <a:prstGeom prst="rect">
            <a:avLst/>
          </a:prstGeom>
          <a:solidFill>
            <a:srgbClr val="F47657"/>
          </a:solidFill>
          <a:ln w="12700">
            <a:solidFill>
              <a:srgbClr val="F4765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530352"/>
            <a:ext cx="6327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100" kern="0" dirty="0">
                <a:solidFill>
                  <a:srgbClr val="67C5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I N E M A   /   一 场 电 影 的 完 整 旅 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1737360"/>
            <a:ext cx="8138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9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让购票、运营与服务</a:t>
            </a:r>
            <a:endParaRPr lang="en-US" sz="3197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19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形成一个清晰的闭环。</a:t>
            </a:r>
            <a:endParaRPr lang="en-US" sz="3197" dirty="0"/>
          </a:p>
        </p:txBody>
      </p:sp>
      <p:sp>
        <p:nvSpPr>
          <p:cNvPr id="14" name="Shape 12"/>
          <p:cNvSpPr/>
          <p:nvPr/>
        </p:nvSpPr>
        <p:spPr>
          <a:xfrm>
            <a:off x="658368" y="3803904"/>
            <a:ext cx="7059168" cy="0"/>
          </a:xfrm>
          <a:prstGeom prst="line">
            <a:avLst/>
          </a:prstGeom>
          <a:noFill/>
          <a:ln w="27940">
            <a:solidFill>
              <a:srgbClr val="F47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2245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选得轻松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70001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A4B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观众体验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08960" y="42245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管得有序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08960" y="470001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A4B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影院运营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32120" y="42245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答得及时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32120" y="470001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A4B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智能服务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531352" y="4178808"/>
            <a:ext cx="210312" cy="0"/>
          </a:xfrm>
          <a:prstGeom prst="line">
            <a:avLst/>
          </a:prstGeom>
          <a:noFill/>
          <a:ln w="25400">
            <a:solidFill>
              <a:srgbClr val="67C5B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31352" y="4178808"/>
            <a:ext cx="0" cy="210312"/>
          </a:xfrm>
          <a:prstGeom prst="line">
            <a:avLst/>
          </a:prstGeom>
          <a:noFill/>
          <a:ln w="25400">
            <a:solidFill>
              <a:srgbClr val="67C5B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61904" y="5175504"/>
            <a:ext cx="210312" cy="0"/>
          </a:xfrm>
          <a:prstGeom prst="line">
            <a:avLst/>
          </a:prstGeom>
          <a:noFill/>
          <a:ln w="25400">
            <a:solidFill>
              <a:srgbClr val="67C5B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72216" y="4965192"/>
            <a:ext cx="0" cy="210312"/>
          </a:xfrm>
          <a:prstGeom prst="line">
            <a:avLst/>
          </a:prstGeom>
          <a:noFill/>
          <a:ln w="25400">
            <a:solidFill>
              <a:srgbClr val="67C5B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87384" y="4453128"/>
            <a:ext cx="18653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7512" y="617220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A4B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影院售票与 AI Agent 系统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6985">
            <a:solidFill>
              <a:srgbClr val="2743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100" kern="0" dirty="0">
                <a:solidFill>
                  <a:srgbClr val="789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  /  PRODUCT INTRODUCTION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137392" y="651052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789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AI-Project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影院售票与 AI Agent 系统｜产品介绍</dc:title>
  <dc:subject>影院售票与 AI Agent 系统产品介绍</dc:subject>
  <dc:creator>OpenAI Codex</dc:creator>
  <cp:lastModifiedBy>OpenAI Codex</cp:lastModifiedBy>
  <cp:revision>1</cp:revision>
  <dcterms:created xsi:type="dcterms:W3CDTF">2026-09-28T13:03:09Z</dcterms:created>
  <dcterms:modified xsi:type="dcterms:W3CDTF">2026-09-28T13:03:09Z</dcterms:modified>
</cp:coreProperties>
</file>